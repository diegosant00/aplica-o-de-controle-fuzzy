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5074900" cy="20104100"/>
  <p:notesSz cx="150749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1093" y="6232271"/>
            <a:ext cx="128190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2187" y="11258296"/>
            <a:ext cx="105568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54062" y="4623943"/>
            <a:ext cx="656034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766843" y="4623943"/>
            <a:ext cx="656034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9969937"/>
            <a:ext cx="15075535" cy="134620"/>
          </a:xfrm>
          <a:custGeom>
            <a:avLst/>
            <a:gdLst/>
            <a:ahLst/>
            <a:cxnLst/>
            <a:rect l="l" t="t" r="r" b="b"/>
            <a:pathLst>
              <a:path w="15075535" h="134619">
                <a:moveTo>
                  <a:pt x="0" y="134163"/>
                </a:moveTo>
                <a:lnTo>
                  <a:pt x="15075120" y="134163"/>
                </a:lnTo>
                <a:lnTo>
                  <a:pt x="15075120" y="0"/>
                </a:lnTo>
                <a:lnTo>
                  <a:pt x="0" y="0"/>
                </a:lnTo>
                <a:lnTo>
                  <a:pt x="0" y="134163"/>
                </a:lnTo>
                <a:close/>
              </a:path>
            </a:pathLst>
          </a:custGeom>
          <a:solidFill>
            <a:srgbClr val="DAE4F1">
              <a:alpha val="2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"/>
            <a:ext cx="15075535" cy="19970115"/>
          </a:xfrm>
          <a:custGeom>
            <a:avLst/>
            <a:gdLst/>
            <a:ahLst/>
            <a:cxnLst/>
            <a:rect l="l" t="t" r="r" b="b"/>
            <a:pathLst>
              <a:path w="15075535" h="19970115">
                <a:moveTo>
                  <a:pt x="15075119" y="19969936"/>
                </a:moveTo>
                <a:lnTo>
                  <a:pt x="0" y="19969936"/>
                </a:lnTo>
                <a:lnTo>
                  <a:pt x="0" y="0"/>
                </a:lnTo>
                <a:lnTo>
                  <a:pt x="15075119" y="0"/>
                </a:lnTo>
                <a:lnTo>
                  <a:pt x="15075119" y="19969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4062" y="804164"/>
            <a:ext cx="1357312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4062" y="4623943"/>
            <a:ext cx="135731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27625" y="18696814"/>
            <a:ext cx="482600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54062" y="18696814"/>
            <a:ext cx="346868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8500" y="18696814"/>
            <a:ext cx="346868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37576" y="3947480"/>
            <a:ext cx="6503034" cy="3216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680"/>
              </a:lnSpc>
              <a:spcBef>
                <a:spcPts val="95"/>
              </a:spcBef>
            </a:pPr>
            <a:r>
              <a:rPr dirty="0" sz="1400" spc="-10" b="1">
                <a:latin typeface="Arial"/>
                <a:cs typeface="Arial"/>
              </a:rPr>
              <a:t>INTRODUÇÃO</a:t>
            </a:r>
            <a:endParaRPr sz="1400">
              <a:latin typeface="Arial"/>
              <a:cs typeface="Arial"/>
            </a:endParaRPr>
          </a:p>
          <a:p>
            <a:pPr algn="just" marL="12700" marR="6350">
              <a:lnSpc>
                <a:spcPts val="1680"/>
              </a:lnSpc>
              <a:spcBef>
                <a:spcPts val="55"/>
              </a:spcBef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otimização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eficiência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energética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caldeiras</a:t>
            </a:r>
            <a:r>
              <a:rPr dirty="0" sz="1400" spc="1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biomassa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é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crucial,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mas </a:t>
            </a:r>
            <a:r>
              <a:rPr dirty="0" sz="1400">
                <a:latin typeface="Arial MT"/>
                <a:cs typeface="Arial MT"/>
              </a:rPr>
              <a:t>enfrenta</a:t>
            </a:r>
            <a:r>
              <a:rPr dirty="0" sz="1400" spc="30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desafio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instabilidade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crítica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Vapor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(P)</a:t>
            </a:r>
            <a:r>
              <a:rPr dirty="0" sz="1400" spc="31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(Variável </a:t>
            </a:r>
            <a:r>
              <a:rPr dirty="0" sz="1400">
                <a:latin typeface="Arial MT"/>
                <a:cs typeface="Arial MT"/>
              </a:rPr>
              <a:t>Controlada).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Essa</a:t>
            </a:r>
            <a:r>
              <a:rPr dirty="0" sz="1400" spc="2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instabilidade</a:t>
            </a:r>
            <a:r>
              <a:rPr dirty="0" sz="1400" spc="2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é</a:t>
            </a:r>
            <a:r>
              <a:rPr dirty="0" sz="1400" spc="2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causada</a:t>
            </a:r>
            <a:r>
              <a:rPr dirty="0" sz="1400" spc="2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por</a:t>
            </a:r>
            <a:r>
              <a:rPr dirty="0" sz="1400" spc="2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rápidas</a:t>
            </a:r>
            <a:r>
              <a:rPr dirty="0" sz="1400" spc="2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flutuações</a:t>
            </a:r>
            <a:r>
              <a:rPr dirty="0" sz="1400" spc="2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na</a:t>
            </a:r>
            <a:r>
              <a:rPr dirty="0" sz="1400" spc="2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demanda (Vazão,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V),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distúrbio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inerente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processo.</a:t>
            </a:r>
            <a:endParaRPr sz="1400">
              <a:latin typeface="Arial MT"/>
              <a:cs typeface="Arial MT"/>
            </a:endParaRPr>
          </a:p>
          <a:p>
            <a:pPr algn="just" marL="12700">
              <a:lnSpc>
                <a:spcPts val="1600"/>
              </a:lnSpc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10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proposta</a:t>
            </a:r>
            <a:r>
              <a:rPr dirty="0" sz="1400" spc="1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1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trabalho</a:t>
            </a:r>
            <a:r>
              <a:rPr dirty="0" sz="1400" spc="1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é</a:t>
            </a:r>
            <a:r>
              <a:rPr dirty="0" sz="1400" spc="1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desenvolver</a:t>
            </a:r>
            <a:r>
              <a:rPr dirty="0" sz="1400" spc="1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</a:t>
            </a:r>
            <a:r>
              <a:rPr dirty="0" sz="1400" spc="1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Controlador</a:t>
            </a:r>
            <a:r>
              <a:rPr dirty="0" sz="1400" spc="1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1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1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aplicação</a:t>
            </a:r>
            <a:r>
              <a:rPr dirty="0" sz="1400" spc="175">
                <a:latin typeface="Arial MT"/>
                <a:cs typeface="Arial MT"/>
              </a:rPr>
              <a:t> </a:t>
            </a:r>
            <a:r>
              <a:rPr dirty="0" sz="1400" spc="-35">
                <a:latin typeface="Arial MT"/>
                <a:cs typeface="Arial MT"/>
              </a:rPr>
              <a:t>do</a:t>
            </a:r>
            <a:endParaRPr sz="1400">
              <a:latin typeface="Arial MT"/>
              <a:cs typeface="Arial MT"/>
            </a:endParaRPr>
          </a:p>
          <a:p>
            <a:pPr algn="just" marL="12700" marR="18415">
              <a:lnSpc>
                <a:spcPts val="1680"/>
              </a:lnSpc>
              <a:spcBef>
                <a:spcPts val="50"/>
              </a:spcBef>
            </a:pP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19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Avançado</a:t>
            </a:r>
            <a:r>
              <a:rPr dirty="0" sz="1400" spc="23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23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Processos</a:t>
            </a:r>
            <a:r>
              <a:rPr dirty="0" sz="1400" spc="23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(APC)</a:t>
            </a:r>
            <a:r>
              <a:rPr dirty="0" sz="1400" spc="23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23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substituição</a:t>
            </a:r>
            <a:r>
              <a:rPr dirty="0" sz="1400" spc="23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23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235">
                <a:latin typeface="Arial MT"/>
                <a:cs typeface="Arial MT"/>
              </a:rPr>
              <a:t>  </a:t>
            </a:r>
            <a:r>
              <a:rPr dirty="0" sz="1400" spc="-25">
                <a:latin typeface="Arial MT"/>
                <a:cs typeface="Arial MT"/>
              </a:rPr>
              <a:t>PI </a:t>
            </a:r>
            <a:r>
              <a:rPr dirty="0" sz="1400" spc="-10">
                <a:latin typeface="Arial MT"/>
                <a:cs typeface="Arial MT"/>
              </a:rPr>
              <a:t>convencional.</a:t>
            </a:r>
            <a:endParaRPr sz="1400">
              <a:latin typeface="Arial MT"/>
              <a:cs typeface="Arial MT"/>
            </a:endParaRPr>
          </a:p>
          <a:p>
            <a:pPr algn="just" marL="12700">
              <a:lnSpc>
                <a:spcPts val="1610"/>
              </a:lnSpc>
            </a:pPr>
            <a:r>
              <a:rPr dirty="0" sz="1400">
                <a:latin typeface="Arial MT"/>
                <a:cs typeface="Arial MT"/>
              </a:rPr>
              <a:t>Foi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utilizada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estratégia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implementação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sistema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inferência</a:t>
            </a:r>
            <a:r>
              <a:rPr dirty="0" sz="1400" spc="-10">
                <a:latin typeface="Arial MT"/>
                <a:cs typeface="Arial MT"/>
              </a:rPr>
              <a:t> Fuzzy</a:t>
            </a:r>
            <a:endParaRPr sz="1400">
              <a:latin typeface="Arial MT"/>
              <a:cs typeface="Arial MT"/>
            </a:endParaRPr>
          </a:p>
          <a:p>
            <a:pPr algn="just" marL="12700" marR="5080">
              <a:lnSpc>
                <a:spcPts val="1680"/>
              </a:lnSpc>
              <a:spcBef>
                <a:spcPts val="55"/>
              </a:spcBef>
            </a:pP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utiliza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medição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Vazão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Vapor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(V)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(Variável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Distúrbio)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-10">
                <a:latin typeface="Arial MT"/>
                <a:cs typeface="Arial MT"/>
              </a:rPr>
              <a:t> antecipar </a:t>
            </a:r>
            <a:r>
              <a:rPr dirty="0" sz="1400">
                <a:latin typeface="Arial MT"/>
                <a:cs typeface="Arial MT"/>
              </a:rPr>
              <a:t>às</a:t>
            </a:r>
            <a:r>
              <a:rPr dirty="0" sz="1400" spc="459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mudanças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abruptas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demanda,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manipulando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Rosca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 spc="-10">
                <a:latin typeface="Arial MT"/>
                <a:cs typeface="Arial MT"/>
              </a:rPr>
              <a:t>Alimentação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(R)</a:t>
            </a:r>
            <a:r>
              <a:rPr dirty="0" sz="1400" spc="-20">
                <a:latin typeface="Arial MT"/>
                <a:cs typeface="Arial MT"/>
              </a:rPr>
              <a:t> (Variável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Manipulada)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conforme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Figura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1</a:t>
            </a:r>
            <a:r>
              <a:rPr dirty="0" sz="1400" spc="-25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algn="just" marL="12700">
              <a:lnSpc>
                <a:spcPts val="1605"/>
              </a:lnSpc>
            </a:pP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objetivo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é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manter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vapor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estável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torno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SetPoint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65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bar,</a:t>
            </a:r>
            <a:endParaRPr sz="1400">
              <a:latin typeface="Arial MT"/>
              <a:cs typeface="Arial MT"/>
            </a:endParaRPr>
          </a:p>
          <a:p>
            <a:pPr algn="just" marL="12700" marR="8890">
              <a:lnSpc>
                <a:spcPts val="1680"/>
              </a:lnSpc>
              <a:spcBef>
                <a:spcPts val="55"/>
              </a:spcBef>
            </a:pPr>
            <a:r>
              <a:rPr dirty="0" sz="1400">
                <a:latin typeface="Arial MT"/>
                <a:cs typeface="Arial MT"/>
              </a:rPr>
              <a:t>reduzir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variabilidade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pressão,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e,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consequentemente,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otimizar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consumo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 spc="-10">
                <a:latin typeface="Arial MT"/>
                <a:cs typeface="Arial MT"/>
              </a:rPr>
              <a:t>combustível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reduzir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custos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operacionais.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37576" y="7351349"/>
            <a:ext cx="77406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latin typeface="Arial"/>
                <a:cs typeface="Arial"/>
              </a:rPr>
              <a:t>Figura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1: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7576" y="9228204"/>
            <a:ext cx="6503670" cy="9525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400" spc="-10" b="1">
                <a:latin typeface="Arial"/>
                <a:cs typeface="Arial"/>
              </a:rPr>
              <a:t>METODOLOGIA</a:t>
            </a: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295"/>
              </a:spcBef>
            </a:pPr>
            <a:r>
              <a:rPr dirty="0" sz="1400">
                <a:latin typeface="Arial MT"/>
                <a:cs typeface="Arial MT"/>
              </a:rPr>
              <a:t>Com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objetivo de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aprimorar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 rendimento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 caldeira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biomassa 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estabilizar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a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3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3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Vapor,</a:t>
            </a:r>
            <a:r>
              <a:rPr dirty="0" sz="1400" spc="3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3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estratégia</a:t>
            </a:r>
            <a:r>
              <a:rPr dirty="0" sz="1400" spc="3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3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3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Avançado</a:t>
            </a:r>
            <a:r>
              <a:rPr dirty="0" sz="1400" spc="3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3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Processos</a:t>
            </a:r>
            <a:r>
              <a:rPr dirty="0" sz="1400" spc="39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(APC) </a:t>
            </a:r>
            <a:r>
              <a:rPr dirty="0" sz="1400">
                <a:latin typeface="Arial MT"/>
                <a:cs typeface="Arial MT"/>
              </a:rPr>
              <a:t>baseada</a:t>
            </a:r>
            <a:r>
              <a:rPr dirty="0" sz="1400" spc="250">
                <a:latin typeface="Arial MT"/>
                <a:cs typeface="Arial MT"/>
              </a:rPr>
              <a:t>  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250">
                <a:latin typeface="Arial MT"/>
                <a:cs typeface="Arial MT"/>
              </a:rPr>
              <a:t>   </a:t>
            </a:r>
            <a:r>
              <a:rPr dirty="0" sz="1400">
                <a:latin typeface="Arial MT"/>
                <a:cs typeface="Arial MT"/>
              </a:rPr>
              <a:t>Lógica</a:t>
            </a:r>
            <a:r>
              <a:rPr dirty="0" sz="1400" spc="250">
                <a:latin typeface="Arial MT"/>
                <a:cs typeface="Arial MT"/>
              </a:rPr>
              <a:t>  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250">
                <a:latin typeface="Arial MT"/>
                <a:cs typeface="Arial MT"/>
              </a:rPr>
              <a:t>   </a:t>
            </a:r>
            <a:r>
              <a:rPr dirty="0" sz="1400">
                <a:latin typeface="Arial MT"/>
                <a:cs typeface="Arial MT"/>
              </a:rPr>
              <a:t>foi</a:t>
            </a:r>
            <a:r>
              <a:rPr dirty="0" sz="1400" spc="254">
                <a:latin typeface="Arial MT"/>
                <a:cs typeface="Arial MT"/>
              </a:rPr>
              <a:t>   </a:t>
            </a:r>
            <a:r>
              <a:rPr dirty="0" sz="1400">
                <a:latin typeface="Arial MT"/>
                <a:cs typeface="Arial MT"/>
              </a:rPr>
              <a:t>aplicada,</a:t>
            </a:r>
            <a:r>
              <a:rPr dirty="0" sz="1400" spc="250">
                <a:latin typeface="Arial MT"/>
                <a:cs typeface="Arial MT"/>
              </a:rPr>
              <a:t>   </a:t>
            </a:r>
            <a:r>
              <a:rPr dirty="0" sz="1400">
                <a:latin typeface="Arial MT"/>
                <a:cs typeface="Arial MT"/>
              </a:rPr>
              <a:t>substituindo</a:t>
            </a:r>
            <a:r>
              <a:rPr dirty="0" sz="1400" spc="250">
                <a:latin typeface="Arial MT"/>
                <a:cs typeface="Arial MT"/>
              </a:rPr>
              <a:t>  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250">
                <a:latin typeface="Arial MT"/>
                <a:cs typeface="Arial MT"/>
              </a:rPr>
              <a:t>   </a:t>
            </a:r>
            <a:r>
              <a:rPr dirty="0" sz="1400" spc="-10">
                <a:latin typeface="Arial MT"/>
                <a:cs typeface="Arial MT"/>
              </a:rPr>
              <a:t>controle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96095" y="10154813"/>
            <a:ext cx="6545580" cy="3793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53975" marR="762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Arial MT"/>
                <a:cs typeface="Arial MT"/>
              </a:rPr>
              <a:t>Proporcional-</a:t>
            </a:r>
            <a:r>
              <a:rPr dirty="0" sz="1400">
                <a:latin typeface="Arial MT"/>
                <a:cs typeface="Arial MT"/>
              </a:rPr>
              <a:t>Integral</a:t>
            </a:r>
            <a:r>
              <a:rPr dirty="0" sz="1400" spc="3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(PI)</a:t>
            </a:r>
            <a:r>
              <a:rPr dirty="0" sz="1400" spc="3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convencional.</a:t>
            </a:r>
            <a:r>
              <a:rPr dirty="0" sz="1400" spc="3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3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Controlador</a:t>
            </a:r>
            <a:r>
              <a:rPr dirty="0" sz="1400" spc="3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3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opera</a:t>
            </a:r>
            <a:r>
              <a:rPr dirty="0" sz="1400" spc="3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</a:t>
            </a:r>
            <a:r>
              <a:rPr dirty="0" sz="1400" spc="36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uma </a:t>
            </a:r>
            <a:r>
              <a:rPr dirty="0" sz="1400">
                <a:latin typeface="Arial MT"/>
                <a:cs typeface="Arial MT"/>
              </a:rPr>
              <a:t>estratégia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proativa,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utilizando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medição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Vazão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Vapor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(V)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antecipar </a:t>
            </a:r>
            <a:r>
              <a:rPr dirty="0" sz="1400">
                <a:latin typeface="Arial MT"/>
                <a:cs typeface="Arial MT"/>
              </a:rPr>
              <a:t>às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variações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demanda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antes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(P)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seja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impactada.</a:t>
            </a:r>
            <a:endParaRPr sz="1400">
              <a:latin typeface="Arial MT"/>
              <a:cs typeface="Arial MT"/>
            </a:endParaRPr>
          </a:p>
          <a:p>
            <a:pPr algn="just" marL="53975" marR="7620">
              <a:lnSpc>
                <a:spcPct val="100000"/>
              </a:lnSpc>
              <a:spcBef>
                <a:spcPts val="284"/>
              </a:spcBef>
            </a:pP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sistema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traduz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desvio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comandos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0">
                <a:latin typeface="Arial MT"/>
                <a:cs typeface="Arial MT"/>
              </a:rPr>
              <a:t>  </a:t>
            </a:r>
            <a:r>
              <a:rPr dirty="0" sz="1400" spc="-10">
                <a:latin typeface="Arial MT"/>
                <a:cs typeface="Arial MT"/>
              </a:rPr>
              <a:t>correção, </a:t>
            </a:r>
            <a:r>
              <a:rPr dirty="0" sz="1400">
                <a:latin typeface="Arial MT"/>
                <a:cs typeface="Arial MT"/>
              </a:rPr>
              <a:t>incorporando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Vazão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autônoma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Rotação:</a:t>
            </a:r>
            <a:endParaRPr sz="1400">
              <a:latin typeface="Arial MT"/>
              <a:cs typeface="Arial MT"/>
            </a:endParaRPr>
          </a:p>
          <a:p>
            <a:pPr marL="264795" marR="11430" indent="-212090">
              <a:lnSpc>
                <a:spcPct val="100000"/>
              </a:lnSpc>
              <a:spcBef>
                <a:spcPts val="285"/>
              </a:spcBef>
              <a:buChar char="●"/>
              <a:tabLst>
                <a:tab pos="266700" algn="l"/>
              </a:tabLst>
            </a:pPr>
            <a:r>
              <a:rPr dirty="0" sz="1400">
                <a:latin typeface="Arial MT"/>
                <a:cs typeface="Arial MT"/>
              </a:rPr>
              <a:t>P</a:t>
            </a:r>
            <a:r>
              <a:rPr dirty="0" sz="1400" spc="1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&lt;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65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bar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(Baixa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Pressão):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controlador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ajusta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Rápida</a:t>
            </a:r>
            <a:r>
              <a:rPr dirty="0" sz="1400" spc="1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(Alto </a:t>
            </a:r>
            <a:r>
              <a:rPr dirty="0" sz="1400" spc="-10">
                <a:latin typeface="Arial MT"/>
                <a:cs typeface="Arial MT"/>
              </a:rPr>
              <a:t>	</a:t>
            </a:r>
            <a:r>
              <a:rPr dirty="0" sz="1400">
                <a:latin typeface="Arial MT"/>
                <a:cs typeface="Arial MT"/>
              </a:rPr>
              <a:t>Fluxo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Biomassa)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forçar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retorno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SetPoint.</a:t>
            </a:r>
            <a:endParaRPr sz="1400">
              <a:latin typeface="Arial MT"/>
              <a:cs typeface="Arial MT"/>
            </a:endParaRPr>
          </a:p>
          <a:p>
            <a:pPr marL="264795" marR="10160" indent="-212090">
              <a:lnSpc>
                <a:spcPts val="1680"/>
              </a:lnSpc>
              <a:spcBef>
                <a:spcPts val="45"/>
              </a:spcBef>
              <a:buChar char="●"/>
              <a:tabLst>
                <a:tab pos="266700" algn="l"/>
              </a:tabLst>
            </a:pPr>
            <a:r>
              <a:rPr dirty="0" sz="1400">
                <a:latin typeface="Arial MT"/>
                <a:cs typeface="Arial MT"/>
              </a:rPr>
              <a:t>P</a:t>
            </a:r>
            <a:r>
              <a:rPr dirty="0" sz="1400" spc="2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&gt;</a:t>
            </a:r>
            <a:r>
              <a:rPr dirty="0" sz="1400" spc="2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65</a:t>
            </a:r>
            <a:r>
              <a:rPr dirty="0" sz="1400" spc="2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bar</a:t>
            </a:r>
            <a:r>
              <a:rPr dirty="0" sz="1400" spc="2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(Alta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Pressão):</a:t>
            </a:r>
            <a:r>
              <a:rPr dirty="0" sz="1400" spc="2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2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controlador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ajusta</a:t>
            </a:r>
            <a:r>
              <a:rPr dirty="0" sz="1400" spc="2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2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2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Lenta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(Baixo </a:t>
            </a:r>
            <a:r>
              <a:rPr dirty="0" sz="1400" spc="-10">
                <a:latin typeface="Arial MT"/>
                <a:cs typeface="Arial MT"/>
              </a:rPr>
              <a:t>	</a:t>
            </a:r>
            <a:r>
              <a:rPr dirty="0" sz="1400">
                <a:latin typeface="Arial MT"/>
                <a:cs typeface="Arial MT"/>
              </a:rPr>
              <a:t>Fluxo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Biomassa)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desacelerar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geração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vapor.</a:t>
            </a:r>
            <a:endParaRPr sz="1400">
              <a:latin typeface="Arial MT"/>
              <a:cs typeface="Arial MT"/>
            </a:endParaRPr>
          </a:p>
          <a:p>
            <a:pPr marL="265430" indent="-212090">
              <a:lnSpc>
                <a:spcPts val="1610"/>
              </a:lnSpc>
              <a:buChar char="●"/>
              <a:tabLst>
                <a:tab pos="265430" algn="l"/>
              </a:tabLst>
            </a:pPr>
            <a:r>
              <a:rPr dirty="0" sz="1400">
                <a:latin typeface="Arial MT"/>
                <a:cs typeface="Arial MT"/>
              </a:rPr>
              <a:t>P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≈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65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(Média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Pressão):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sistema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mantém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Média,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menos</a:t>
            </a:r>
            <a:r>
              <a:rPr dirty="0" sz="1400" spc="-25">
                <a:latin typeface="Arial MT"/>
                <a:cs typeface="Arial MT"/>
              </a:rPr>
              <a:t> que</a:t>
            </a:r>
            <a:endParaRPr sz="1400">
              <a:latin typeface="Arial MT"/>
              <a:cs typeface="Arial MT"/>
            </a:endParaRPr>
          </a:p>
          <a:p>
            <a:pPr marL="266700">
              <a:lnSpc>
                <a:spcPts val="1680"/>
              </a:lnSpc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Vazão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seja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Alta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(Ação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Antecipatória).</a:t>
            </a:r>
            <a:endParaRPr sz="1400">
              <a:latin typeface="Arial MT"/>
              <a:cs typeface="Arial MT"/>
            </a:endParaRPr>
          </a:p>
          <a:p>
            <a:pPr marL="53975" marR="5080">
              <a:lnSpc>
                <a:spcPct val="100000"/>
              </a:lnSpc>
              <a:spcBef>
                <a:spcPts val="295"/>
              </a:spcBef>
            </a:pP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459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processo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459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implantação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Controlador</a:t>
            </a:r>
            <a:r>
              <a:rPr dirty="0" sz="1400" spc="459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foi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estruturado</a:t>
            </a:r>
            <a:r>
              <a:rPr dirty="0" sz="1400" spc="459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46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fases </a:t>
            </a:r>
            <a:r>
              <a:rPr dirty="0" sz="1400">
                <a:latin typeface="Arial MT"/>
                <a:cs typeface="Arial MT"/>
              </a:rPr>
              <a:t>sequenciais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garantir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adequação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sistema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validação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estratégia:</a:t>
            </a:r>
            <a:endParaRPr sz="1400">
              <a:latin typeface="Arial MT"/>
              <a:cs typeface="Arial MT"/>
            </a:endParaRPr>
          </a:p>
          <a:p>
            <a:pPr marL="264795" marR="5080" indent="-252729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266700" algn="l"/>
              </a:tabLst>
            </a:pPr>
            <a:r>
              <a:rPr dirty="0" sz="1400">
                <a:latin typeface="Arial MT"/>
                <a:cs typeface="Arial MT"/>
              </a:rPr>
              <a:t>Estudo</a:t>
            </a:r>
            <a:r>
              <a:rPr dirty="0" sz="1400" spc="2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2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processo</a:t>
            </a:r>
            <a:r>
              <a:rPr dirty="0" sz="1400" spc="204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dinâmico</a:t>
            </a:r>
            <a:r>
              <a:rPr dirty="0" sz="1400" spc="2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204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caldeira</a:t>
            </a:r>
            <a:r>
              <a:rPr dirty="0" sz="1400" spc="2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204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biomassa</a:t>
            </a:r>
            <a:r>
              <a:rPr dirty="0" sz="1400" spc="2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204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análise</a:t>
            </a:r>
            <a:r>
              <a:rPr dirty="0" sz="1400" spc="2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dos</a:t>
            </a:r>
            <a:r>
              <a:rPr dirty="0" sz="1400" spc="204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dados </a:t>
            </a:r>
            <a:r>
              <a:rPr dirty="0" sz="1400" spc="-10">
                <a:latin typeface="Arial MT"/>
                <a:cs typeface="Arial MT"/>
              </a:rPr>
              <a:t>	</a:t>
            </a:r>
            <a:r>
              <a:rPr dirty="0" sz="1400">
                <a:latin typeface="Arial MT"/>
                <a:cs typeface="Arial MT"/>
              </a:rPr>
              <a:t>históricos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(iSystems).</a:t>
            </a:r>
            <a:endParaRPr sz="1400">
              <a:latin typeface="Arial MT"/>
              <a:cs typeface="Arial MT"/>
            </a:endParaRPr>
          </a:p>
          <a:p>
            <a:pPr marL="264795" marR="5080" indent="-252729">
              <a:lnSpc>
                <a:spcPts val="1680"/>
              </a:lnSpc>
              <a:spcBef>
                <a:spcPts val="45"/>
              </a:spcBef>
              <a:buAutoNum type="arabicPeriod"/>
              <a:tabLst>
                <a:tab pos="266700" algn="l"/>
                <a:tab pos="5338445" algn="l"/>
              </a:tabLst>
            </a:pPr>
            <a:r>
              <a:rPr dirty="0" sz="1400">
                <a:latin typeface="Arial MT"/>
                <a:cs typeface="Arial MT"/>
              </a:rPr>
              <a:t>Implementação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sistema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inferência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(biblioteca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SkFuzzy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Python) </a:t>
            </a:r>
            <a:r>
              <a:rPr dirty="0" sz="1400" spc="-10">
                <a:latin typeface="Arial MT"/>
                <a:cs typeface="Arial MT"/>
              </a:rPr>
              <a:t>	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2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manipular</a:t>
            </a:r>
            <a:r>
              <a:rPr dirty="0" sz="1400" spc="2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2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2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2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Rosca</a:t>
            </a:r>
            <a:r>
              <a:rPr dirty="0" sz="1400" spc="2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1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Alimentação</a:t>
            </a:r>
            <a:r>
              <a:rPr dirty="0" sz="1400" spc="2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(R)</a:t>
            </a:r>
            <a:r>
              <a:rPr dirty="0" sz="1400" spc="270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e</a:t>
            </a:r>
            <a:r>
              <a:rPr dirty="0" sz="1400">
                <a:latin typeface="Arial MT"/>
                <a:cs typeface="Arial MT"/>
              </a:rPr>
              <a:t>	calibração</a:t>
            </a:r>
            <a:r>
              <a:rPr dirty="0" sz="1400" spc="254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das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6095" y="13922706"/>
            <a:ext cx="6544309" cy="664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0" marR="508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latin typeface="Arial MT"/>
                <a:cs typeface="Arial MT"/>
              </a:rPr>
              <a:t>Funções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Pertinência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validação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Regras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(9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regras)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10">
                <a:latin typeface="Arial MT"/>
                <a:cs typeface="Arial MT"/>
              </a:rPr>
              <a:t> garantir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resposta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lógica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esperada.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70"/>
              </a:lnSpc>
            </a:pPr>
            <a:r>
              <a:rPr dirty="0" sz="1400">
                <a:latin typeface="Arial MT"/>
                <a:cs typeface="Arial MT"/>
              </a:rPr>
              <a:t>3.</a:t>
            </a:r>
            <a:r>
              <a:rPr dirty="0" sz="1400" spc="4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Controlador</a:t>
            </a:r>
            <a:r>
              <a:rPr dirty="0" sz="1400" spc="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foi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ativado</a:t>
            </a:r>
            <a:r>
              <a:rPr dirty="0" sz="1400" spc="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atuar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na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caldeira</a:t>
            </a:r>
            <a:r>
              <a:rPr dirty="0" sz="1400" spc="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biomassa,</a:t>
            </a:r>
            <a:r>
              <a:rPr dirty="0" sz="1400" spc="7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seguindo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0318" y="14560931"/>
            <a:ext cx="62896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7195" algn="l"/>
                <a:tab pos="1127760" algn="l"/>
                <a:tab pos="1483360" algn="l"/>
                <a:tab pos="2508885" algn="l"/>
                <a:tab pos="3002280" algn="l"/>
                <a:tab pos="3258820" algn="l"/>
                <a:tab pos="4048125" algn="l"/>
                <a:tab pos="5013960" algn="l"/>
                <a:tab pos="5527675" algn="l"/>
              </a:tabLst>
            </a:pPr>
            <a:r>
              <a:rPr dirty="0" sz="1400" spc="-25">
                <a:latin typeface="Arial MT"/>
                <a:cs typeface="Arial MT"/>
              </a:rPr>
              <a:t>um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10">
                <a:latin typeface="Arial MT"/>
                <a:cs typeface="Arial MT"/>
              </a:rPr>
              <a:t>padrão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25">
                <a:latin typeface="Arial MT"/>
                <a:cs typeface="Arial MT"/>
              </a:rPr>
              <a:t>de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10">
                <a:latin typeface="Arial MT"/>
                <a:cs typeface="Arial MT"/>
              </a:rPr>
              <a:t>alternância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25">
                <a:latin typeface="Arial MT"/>
                <a:cs typeface="Arial MT"/>
              </a:rPr>
              <a:t>com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50">
                <a:latin typeface="Arial MT"/>
                <a:cs typeface="Arial MT"/>
              </a:rPr>
              <a:t>o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10">
                <a:latin typeface="Arial MT"/>
                <a:cs typeface="Arial MT"/>
              </a:rPr>
              <a:t>controle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10">
                <a:latin typeface="Arial MT"/>
                <a:cs typeface="Arial MT"/>
              </a:rPr>
              <a:t>tradicional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20">
                <a:latin typeface="Arial MT"/>
                <a:cs typeface="Arial MT"/>
              </a:rPr>
              <a:t>para</a:t>
            </a:r>
            <a:r>
              <a:rPr dirty="0" sz="1400">
                <a:latin typeface="Arial MT"/>
                <a:cs typeface="Arial MT"/>
              </a:rPr>
              <a:t>	</a:t>
            </a:r>
            <a:r>
              <a:rPr dirty="0" sz="1400" spc="-10">
                <a:latin typeface="Arial MT"/>
                <a:cs typeface="Arial MT"/>
              </a:rPr>
              <a:t>validação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96095" y="14735850"/>
            <a:ext cx="6533515" cy="34378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390"/>
              </a:spcBef>
            </a:pPr>
            <a:r>
              <a:rPr dirty="0" sz="1400" spc="-10">
                <a:latin typeface="Arial MT"/>
                <a:cs typeface="Arial MT"/>
              </a:rPr>
              <a:t>comparativa.</a:t>
            </a:r>
            <a:endParaRPr sz="1400">
              <a:latin typeface="Arial MT"/>
              <a:cs typeface="Arial MT"/>
            </a:endParaRPr>
          </a:p>
          <a:p>
            <a:pPr marL="53975" marR="5080">
              <a:lnSpc>
                <a:spcPct val="100000"/>
              </a:lnSpc>
              <a:spcBef>
                <a:spcPts val="295"/>
              </a:spcBef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estratégia</a:t>
            </a:r>
            <a:r>
              <a:rPr dirty="0" sz="1400" spc="1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central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visa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operação</a:t>
            </a:r>
            <a:r>
              <a:rPr dirty="0" sz="1400" spc="1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elevada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estável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maximizar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eficiência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disponibilidade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vapor.</a:t>
            </a:r>
            <a:endParaRPr sz="1400">
              <a:latin typeface="Arial MT"/>
              <a:cs typeface="Arial MT"/>
            </a:endParaRPr>
          </a:p>
          <a:p>
            <a:pPr marL="53975">
              <a:lnSpc>
                <a:spcPct val="100000"/>
              </a:lnSpc>
              <a:spcBef>
                <a:spcPts val="550"/>
              </a:spcBef>
            </a:pPr>
            <a:r>
              <a:rPr dirty="0" sz="1400" spc="-10">
                <a:latin typeface="Arial MT"/>
                <a:cs typeface="Arial MT"/>
              </a:rPr>
              <a:t>Variáveis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</a:t>
            </a:r>
            <a:r>
              <a:rPr dirty="0" sz="1400" spc="-10" b="1">
                <a:latin typeface="Arial"/>
                <a:cs typeface="Arial"/>
              </a:rPr>
              <a:t>Tabela</a:t>
            </a:r>
            <a:r>
              <a:rPr dirty="0" sz="1400" spc="-10">
                <a:latin typeface="Arial MT"/>
                <a:cs typeface="Arial MT"/>
              </a:rPr>
              <a:t>):</a:t>
            </a:r>
            <a:endParaRPr sz="1400">
              <a:latin typeface="Arial MT"/>
              <a:cs typeface="Arial MT"/>
            </a:endParaRPr>
          </a:p>
          <a:p>
            <a:pPr marL="265430" indent="-212090">
              <a:lnSpc>
                <a:spcPct val="100000"/>
              </a:lnSpc>
              <a:spcBef>
                <a:spcPts val="805"/>
              </a:spcBef>
              <a:buChar char="●"/>
              <a:tabLst>
                <a:tab pos="265430" algn="l"/>
              </a:tabLst>
            </a:pPr>
            <a:r>
              <a:rPr dirty="0" sz="1400" spc="-20">
                <a:latin typeface="Arial MT"/>
                <a:cs typeface="Arial MT"/>
              </a:rPr>
              <a:t>Variável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Controlada: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(P)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(bar).</a:t>
            </a:r>
            <a:endParaRPr sz="1400">
              <a:latin typeface="Arial MT"/>
              <a:cs typeface="Arial MT"/>
            </a:endParaRPr>
          </a:p>
          <a:p>
            <a:pPr marL="265430" indent="-212090">
              <a:lnSpc>
                <a:spcPct val="100000"/>
              </a:lnSpc>
              <a:spcBef>
                <a:spcPts val="245"/>
              </a:spcBef>
              <a:buChar char="●"/>
              <a:tabLst>
                <a:tab pos="265430" algn="l"/>
              </a:tabLst>
            </a:pPr>
            <a:r>
              <a:rPr dirty="0" sz="1400" spc="-20">
                <a:latin typeface="Arial MT"/>
                <a:cs typeface="Arial MT"/>
              </a:rPr>
              <a:t>Variável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Distúrbio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(Antecipação):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Vazão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Vapor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(V)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(t/h).</a:t>
            </a:r>
            <a:endParaRPr sz="1400">
              <a:latin typeface="Arial MT"/>
              <a:cs typeface="Arial MT"/>
            </a:endParaRPr>
          </a:p>
          <a:p>
            <a:pPr marL="264795" marR="166370" indent="-212090">
              <a:lnSpc>
                <a:spcPct val="114700"/>
              </a:lnSpc>
              <a:buChar char="●"/>
              <a:tabLst>
                <a:tab pos="266700" algn="l"/>
              </a:tabLst>
            </a:pPr>
            <a:r>
              <a:rPr dirty="0" sz="1400" spc="-20">
                <a:latin typeface="Arial MT"/>
                <a:cs typeface="Arial MT"/>
              </a:rPr>
              <a:t>Variável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Manipulada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(Atuação):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(R)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(%)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Rosca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Alimentação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 spc="-25">
                <a:latin typeface="Arial MT"/>
                <a:cs typeface="Arial MT"/>
              </a:rPr>
              <a:t>	</a:t>
            </a:r>
            <a:r>
              <a:rPr dirty="0" sz="1400" spc="-10">
                <a:latin typeface="Arial MT"/>
                <a:cs typeface="Arial MT"/>
              </a:rPr>
              <a:t>Biomassa.</a:t>
            </a:r>
            <a:endParaRPr sz="1400">
              <a:latin typeface="Arial MT"/>
              <a:cs typeface="Arial MT"/>
            </a:endParaRPr>
          </a:p>
          <a:p>
            <a:pPr marL="53975" marR="344805">
              <a:lnSpc>
                <a:spcPct val="114700"/>
              </a:lnSpc>
              <a:spcBef>
                <a:spcPts val="555"/>
              </a:spcBef>
            </a:pPr>
            <a:r>
              <a:rPr dirty="0" sz="1400">
                <a:latin typeface="Arial MT"/>
                <a:cs typeface="Arial MT"/>
              </a:rPr>
              <a:t>Devido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à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resposta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mais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lenta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caldeira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biomassa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estratégia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privilegia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a </a:t>
            </a:r>
            <a:r>
              <a:rPr dirty="0" sz="1400">
                <a:latin typeface="Arial MT"/>
                <a:cs typeface="Arial MT"/>
              </a:rPr>
              <a:t>estabilidade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antecipação:</a:t>
            </a:r>
            <a:endParaRPr sz="1400">
              <a:latin typeface="Arial MT"/>
              <a:cs typeface="Arial MT"/>
            </a:endParaRPr>
          </a:p>
          <a:p>
            <a:pPr marL="266700" marR="63500" indent="-254635">
              <a:lnSpc>
                <a:spcPct val="114700"/>
              </a:lnSpc>
              <a:spcBef>
                <a:spcPts val="560"/>
              </a:spcBef>
            </a:pPr>
            <a:r>
              <a:rPr dirty="0" sz="1400">
                <a:latin typeface="Arial MT"/>
                <a:cs typeface="Arial MT"/>
              </a:rPr>
              <a:t>1.</a:t>
            </a:r>
            <a:r>
              <a:rPr dirty="0" sz="1400" spc="39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Antecipação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Variações: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utiliza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Vazão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(V)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antecipar </a:t>
            </a:r>
            <a:r>
              <a:rPr dirty="0" sz="1400">
                <a:latin typeface="Arial MT"/>
                <a:cs typeface="Arial MT"/>
              </a:rPr>
              <a:t>variações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coletor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principal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(demanda),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ajustando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(R)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antes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o </a:t>
            </a:r>
            <a:r>
              <a:rPr dirty="0" sz="1400">
                <a:latin typeface="Arial MT"/>
                <a:cs typeface="Arial MT"/>
              </a:rPr>
              <a:t>desvio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(P)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torne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significativo.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25783" y="3891488"/>
            <a:ext cx="6504940" cy="292989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400">
                <a:latin typeface="Arial MT"/>
                <a:cs typeface="Arial MT"/>
              </a:rPr>
              <a:t>2.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Evitar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Sobrepressão: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atua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forma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proativa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redução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Rotação</a:t>
            </a:r>
            <a:endParaRPr sz="1400">
              <a:latin typeface="Arial MT"/>
              <a:cs typeface="Arial MT"/>
            </a:endParaRPr>
          </a:p>
          <a:p>
            <a:pPr marL="12700" marR="388620">
              <a:lnSpc>
                <a:spcPct val="114700"/>
              </a:lnSpc>
            </a:pPr>
            <a:r>
              <a:rPr dirty="0" sz="1400">
                <a:latin typeface="Arial MT"/>
                <a:cs typeface="Arial MT"/>
              </a:rPr>
              <a:t>(R)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evitar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alívio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vapor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sobrepressão,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representa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perda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 spc="-10">
                <a:latin typeface="Arial MT"/>
                <a:cs typeface="Arial MT"/>
              </a:rPr>
              <a:t>energia.</a:t>
            </a:r>
            <a:endParaRPr sz="1400">
              <a:latin typeface="Arial MT"/>
              <a:cs typeface="Arial MT"/>
            </a:endParaRPr>
          </a:p>
          <a:p>
            <a:pPr marL="12700" marR="179070">
              <a:lnSpc>
                <a:spcPct val="114700"/>
              </a:lnSpc>
              <a:spcBef>
                <a:spcPts val="560"/>
              </a:spcBef>
            </a:pPr>
            <a:r>
              <a:rPr dirty="0" sz="1400">
                <a:latin typeface="Arial MT"/>
                <a:cs typeface="Arial MT"/>
              </a:rPr>
              <a:t>3.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Resposta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Quedas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Pressão: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deve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evitar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responder </a:t>
            </a:r>
            <a:r>
              <a:rPr dirty="0" sz="1400">
                <a:latin typeface="Arial MT"/>
                <a:cs typeface="Arial MT"/>
              </a:rPr>
              <a:t>agressivamente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às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quedas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(P).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Devido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à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resposta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lenta,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uma </a:t>
            </a:r>
            <a:r>
              <a:rPr dirty="0" sz="1400">
                <a:latin typeface="Arial MT"/>
                <a:cs typeface="Arial MT"/>
              </a:rPr>
              <a:t>atuação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agressiva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conseguiria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recuperar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produção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rapidamente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poderia </a:t>
            </a:r>
            <a:r>
              <a:rPr dirty="0" sz="1400">
                <a:latin typeface="Arial MT"/>
                <a:cs typeface="Arial MT"/>
              </a:rPr>
              <a:t>levar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overshoot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10">
                <a:latin typeface="Arial MT"/>
                <a:cs typeface="Arial MT"/>
              </a:rPr>
              <a:t> instabilidade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futura.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foco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é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manter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geração estável.</a:t>
            </a:r>
            <a:endParaRPr sz="1400">
              <a:latin typeface="Arial MT"/>
              <a:cs typeface="Arial MT"/>
            </a:endParaRPr>
          </a:p>
          <a:p>
            <a:pPr marL="12700" marR="102870">
              <a:lnSpc>
                <a:spcPct val="114700"/>
              </a:lnSpc>
              <a:spcBef>
                <a:spcPts val="555"/>
              </a:spcBef>
            </a:pPr>
            <a:r>
              <a:rPr dirty="0" sz="1400">
                <a:latin typeface="Arial MT"/>
                <a:cs typeface="Arial MT"/>
              </a:rPr>
              <a:t>Essa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estrutura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permite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ajustes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proativos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antecipatórios,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essenciais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reduzir </a:t>
            </a:r>
            <a:r>
              <a:rPr dirty="0" sz="1400">
                <a:latin typeface="Arial MT"/>
                <a:cs typeface="Arial MT"/>
              </a:rPr>
              <a:t>variações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otimizar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consumo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combustível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(biomassa).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400" spc="-10" b="1">
                <a:latin typeface="Arial"/>
                <a:cs typeface="Arial"/>
              </a:rPr>
              <a:t>Tabela: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725073" y="8710090"/>
            <a:ext cx="6536055" cy="2651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">
              <a:lnSpc>
                <a:spcPts val="1680"/>
              </a:lnSpc>
              <a:spcBef>
                <a:spcPts val="95"/>
              </a:spcBef>
            </a:pPr>
            <a:r>
              <a:rPr dirty="0" sz="1400" spc="-10" b="1">
                <a:latin typeface="Arial"/>
                <a:cs typeface="Arial"/>
              </a:rPr>
              <a:t>RESULTADOS</a:t>
            </a:r>
            <a:endParaRPr sz="1400">
              <a:latin typeface="Arial"/>
              <a:cs typeface="Arial"/>
            </a:endParaRPr>
          </a:p>
          <a:p>
            <a:pPr algn="just" marL="13335">
              <a:lnSpc>
                <a:spcPts val="1680"/>
              </a:lnSpc>
            </a:pP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resultado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final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(demonstrado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Figura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2</a:t>
            </a:r>
            <a:r>
              <a:rPr dirty="0" sz="1400">
                <a:latin typeface="Arial MT"/>
                <a:cs typeface="Arial MT"/>
              </a:rPr>
              <a:t>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compara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medida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vs.</a:t>
            </a:r>
            <a:endParaRPr sz="1400">
              <a:latin typeface="Arial MT"/>
              <a:cs typeface="Arial MT"/>
            </a:endParaRPr>
          </a:p>
          <a:p>
            <a:pPr algn="just" marL="13335" marR="15240">
              <a:lnSpc>
                <a:spcPct val="114700"/>
              </a:lnSpc>
            </a:pPr>
            <a:r>
              <a:rPr dirty="0" sz="1400">
                <a:latin typeface="Arial MT"/>
                <a:cs typeface="Arial MT"/>
              </a:rPr>
              <a:t>fuzzy)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obteve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desempenho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relevante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satisfatório,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comprovando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60">
                <a:latin typeface="Arial MT"/>
                <a:cs typeface="Arial MT"/>
              </a:rPr>
              <a:t>a </a:t>
            </a:r>
            <a:r>
              <a:rPr dirty="0" sz="1400">
                <a:latin typeface="Arial MT"/>
                <a:cs typeface="Arial MT"/>
              </a:rPr>
              <a:t>capacidade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atuador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inteligente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reduzir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variações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pressão.</a:t>
            </a:r>
            <a:endParaRPr sz="1400">
              <a:latin typeface="Arial MT"/>
              <a:cs typeface="Arial MT"/>
            </a:endParaRPr>
          </a:p>
          <a:p>
            <a:pPr algn="just" marL="13335" marR="102235">
              <a:lnSpc>
                <a:spcPct val="100000"/>
              </a:lnSpc>
              <a:spcBef>
                <a:spcPts val="430"/>
              </a:spcBef>
            </a:pPr>
            <a:r>
              <a:rPr dirty="0" sz="1400">
                <a:latin typeface="Arial MT"/>
                <a:cs typeface="Arial MT"/>
              </a:rPr>
              <a:t>No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Cenário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Real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(Sem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Fuzzy)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porcentagem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abertura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válvula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(alimentação)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estava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entre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60%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65%,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após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atuação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das </a:t>
            </a:r>
            <a:r>
              <a:rPr dirty="0" sz="1400">
                <a:latin typeface="Arial MT"/>
                <a:cs typeface="Arial MT"/>
              </a:rPr>
              <a:t>regras,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abertura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foi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drasticamente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reduzida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média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20%.</a:t>
            </a:r>
            <a:endParaRPr sz="1400">
              <a:latin typeface="Arial MT"/>
              <a:cs typeface="Arial MT"/>
            </a:endParaRPr>
          </a:p>
          <a:p>
            <a:pPr algn="just" marL="13335">
              <a:lnSpc>
                <a:spcPts val="1664"/>
              </a:lnSpc>
            </a:pP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cálculo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compara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média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alimentação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(Cenário</a:t>
            </a:r>
            <a:endParaRPr sz="1400">
              <a:latin typeface="Arial MT"/>
              <a:cs typeface="Arial MT"/>
            </a:endParaRPr>
          </a:p>
          <a:p>
            <a:pPr algn="just" marL="13335">
              <a:lnSpc>
                <a:spcPct val="100000"/>
              </a:lnSpc>
              <a:spcBef>
                <a:spcPts val="250"/>
              </a:spcBef>
            </a:pPr>
            <a:r>
              <a:rPr dirty="0" sz="1400">
                <a:latin typeface="Arial MT"/>
                <a:cs typeface="Arial MT"/>
              </a:rPr>
              <a:t>Real)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média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(Cenário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Otimizado).</a:t>
            </a:r>
            <a:endParaRPr sz="1400">
              <a:latin typeface="Arial MT"/>
              <a:cs typeface="Arial MT"/>
            </a:endParaRPr>
          </a:p>
          <a:p>
            <a:pPr algn="just" marL="224790" indent="-212090">
              <a:lnSpc>
                <a:spcPct val="100000"/>
              </a:lnSpc>
              <a:spcBef>
                <a:spcPts val="805"/>
              </a:spcBef>
              <a:buChar char="●"/>
              <a:tabLst>
                <a:tab pos="224790" algn="l"/>
              </a:tabLst>
            </a:pP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Média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Antiga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(Sem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Fuzzy):R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antiga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=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65%</a:t>
            </a:r>
            <a:endParaRPr sz="1400">
              <a:latin typeface="Arial MT"/>
              <a:cs typeface="Arial MT"/>
            </a:endParaRPr>
          </a:p>
          <a:p>
            <a:pPr algn="just" marL="224790" indent="-212090">
              <a:lnSpc>
                <a:spcPct val="100000"/>
              </a:lnSpc>
              <a:spcBef>
                <a:spcPts val="245"/>
              </a:spcBef>
              <a:buChar char="●"/>
              <a:tabLst>
                <a:tab pos="224790" algn="l"/>
              </a:tabLst>
            </a:pP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Média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Nova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(Com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Fuzzy):R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nova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=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20%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725783" y="12282969"/>
            <a:ext cx="6524625" cy="1880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0340">
              <a:lnSpc>
                <a:spcPct val="1147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abertura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média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válvula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rosca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alimentação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foi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reduzida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em </a:t>
            </a:r>
            <a:r>
              <a:rPr dirty="0" sz="1400">
                <a:latin typeface="Arial MT"/>
                <a:cs typeface="Arial MT"/>
              </a:rPr>
              <a:t>aproximadamente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69.23%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após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implementação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Fuzzy.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14700"/>
              </a:lnSpc>
              <a:spcBef>
                <a:spcPts val="555"/>
              </a:spcBef>
            </a:pP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apenas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estabilizou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(variável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controlada),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mas,</a:t>
            </a:r>
            <a:r>
              <a:rPr dirty="0" sz="1400" spc="-25">
                <a:latin typeface="Arial MT"/>
                <a:cs typeface="Arial MT"/>
              </a:rPr>
              <a:t> ao </a:t>
            </a:r>
            <a:r>
              <a:rPr dirty="0" sz="1400">
                <a:latin typeface="Arial MT"/>
                <a:cs typeface="Arial MT"/>
              </a:rPr>
              <a:t>reduzir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média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alimentação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69,23%,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gerou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economia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69% </a:t>
            </a:r>
            <a:r>
              <a:rPr dirty="0" sz="1400">
                <a:latin typeface="Arial MT"/>
                <a:cs typeface="Arial MT"/>
              </a:rPr>
              <a:t>no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consumo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biomassa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(combustível),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demonstrando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alta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eficácia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técnica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e </a:t>
            </a:r>
            <a:r>
              <a:rPr dirty="0" sz="1400" spc="-10">
                <a:latin typeface="Arial MT"/>
                <a:cs typeface="Arial MT"/>
              </a:rPr>
              <a:t>econômica.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400" b="1">
                <a:latin typeface="Arial"/>
                <a:cs typeface="Arial"/>
              </a:rPr>
              <a:t>Figura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2: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725783" y="16052043"/>
            <a:ext cx="6595109" cy="2366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680"/>
              </a:lnSpc>
              <a:spcBef>
                <a:spcPts val="95"/>
              </a:spcBef>
            </a:pPr>
            <a:r>
              <a:rPr dirty="0" sz="1400" spc="-10" b="1">
                <a:latin typeface="Arial"/>
                <a:cs typeface="Arial"/>
              </a:rPr>
              <a:t>CONCLUSÃO</a:t>
            </a: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ts val="1680"/>
              </a:lnSpc>
              <a:spcBef>
                <a:spcPts val="55"/>
              </a:spcBef>
            </a:pP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implementação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sistema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Controlador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obteve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resultados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positivos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e </a:t>
            </a:r>
            <a:r>
              <a:rPr dirty="0" sz="1400">
                <a:latin typeface="Arial MT"/>
                <a:cs typeface="Arial MT"/>
              </a:rPr>
              <a:t>superiores</a:t>
            </a:r>
            <a:r>
              <a:rPr dirty="0" sz="1400" spc="2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às</a:t>
            </a:r>
            <a:r>
              <a:rPr dirty="0" sz="1400" spc="2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nossas</a:t>
            </a:r>
            <a:r>
              <a:rPr dirty="0" sz="1400" spc="2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expectativas</a:t>
            </a:r>
            <a:r>
              <a:rPr dirty="0" sz="1400" spc="2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iniciais,</a:t>
            </a:r>
            <a:r>
              <a:rPr dirty="0" sz="1400" spc="2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validando</a:t>
            </a:r>
            <a:r>
              <a:rPr dirty="0" sz="1400" spc="2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2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abordagem</a:t>
            </a:r>
            <a:r>
              <a:rPr dirty="0" sz="1400" spc="2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28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Controle </a:t>
            </a:r>
            <a:r>
              <a:rPr dirty="0" sz="1400">
                <a:latin typeface="Arial MT"/>
                <a:cs typeface="Arial MT"/>
              </a:rPr>
              <a:t>Avançado</a:t>
            </a:r>
            <a:r>
              <a:rPr dirty="0" sz="1400" spc="15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15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Processos</a:t>
            </a:r>
            <a:r>
              <a:rPr dirty="0" sz="1400" spc="15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(APC).</a:t>
            </a:r>
            <a:r>
              <a:rPr dirty="0" sz="1400" spc="114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114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integração</a:t>
            </a:r>
            <a:r>
              <a:rPr dirty="0" sz="1400" spc="155">
                <a:latin typeface="Arial MT"/>
                <a:cs typeface="Arial MT"/>
              </a:rPr>
              <a:t>  </a:t>
            </a:r>
            <a:r>
              <a:rPr dirty="0" sz="1400" spc="-10">
                <a:latin typeface="Arial MT"/>
                <a:cs typeface="Arial MT"/>
              </a:rPr>
              <a:t>bem-</a:t>
            </a:r>
            <a:r>
              <a:rPr dirty="0" sz="1400">
                <a:latin typeface="Arial MT"/>
                <a:cs typeface="Arial MT"/>
              </a:rPr>
              <a:t>sucedida</a:t>
            </a:r>
            <a:r>
              <a:rPr dirty="0" sz="1400" spc="15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das</a:t>
            </a:r>
            <a:r>
              <a:rPr dirty="0" sz="1400" spc="15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regras</a:t>
            </a:r>
            <a:r>
              <a:rPr dirty="0" sz="1400" spc="155">
                <a:latin typeface="Arial MT"/>
                <a:cs typeface="Arial MT"/>
              </a:rPr>
              <a:t>  </a:t>
            </a:r>
            <a:r>
              <a:rPr dirty="0" sz="1400" spc="-50">
                <a:latin typeface="Arial MT"/>
                <a:cs typeface="Arial MT"/>
              </a:rPr>
              <a:t>e </a:t>
            </a:r>
            <a:r>
              <a:rPr dirty="0" sz="1400">
                <a:latin typeface="Arial MT"/>
                <a:cs typeface="Arial MT"/>
              </a:rPr>
              <a:t>inferências</a:t>
            </a:r>
            <a:r>
              <a:rPr dirty="0" sz="1400" spc="12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permitiu</a:t>
            </a:r>
            <a:r>
              <a:rPr dirty="0" sz="1400" spc="12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uma</a:t>
            </a:r>
            <a:r>
              <a:rPr dirty="0" sz="1400" spc="12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redução</a:t>
            </a:r>
            <a:r>
              <a:rPr dirty="0" sz="1400" spc="12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significativa</a:t>
            </a:r>
            <a:r>
              <a:rPr dirty="0" sz="1400" spc="12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no</a:t>
            </a:r>
            <a:r>
              <a:rPr dirty="0" sz="1400" spc="120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consumo</a:t>
            </a:r>
            <a:r>
              <a:rPr dirty="0" sz="1400" spc="125">
                <a:latin typeface="Arial MT"/>
                <a:cs typeface="Arial MT"/>
              </a:rPr>
              <a:t> 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120">
                <a:latin typeface="Arial MT"/>
                <a:cs typeface="Arial MT"/>
              </a:rPr>
              <a:t>  </a:t>
            </a:r>
            <a:r>
              <a:rPr dirty="0" sz="1400" spc="-10">
                <a:latin typeface="Arial MT"/>
                <a:cs typeface="Arial MT"/>
              </a:rPr>
              <a:t>combustível, </a:t>
            </a:r>
            <a:r>
              <a:rPr dirty="0" sz="1400">
                <a:latin typeface="Arial MT"/>
                <a:cs typeface="Arial MT"/>
              </a:rPr>
              <a:t>diminuindo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porcentagem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abertura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média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rotação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válvula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alimentação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1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65%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para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20%.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Este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aprimoramento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não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só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demonstra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eficácia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1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atuador </a:t>
            </a:r>
            <a:r>
              <a:rPr dirty="0" sz="1400">
                <a:latin typeface="Arial MT"/>
                <a:cs typeface="Arial MT"/>
              </a:rPr>
              <a:t>inteligente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estabilizar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vapor,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mas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também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traduz</a:t>
            </a:r>
            <a:r>
              <a:rPr dirty="0" sz="1400" spc="9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diretamente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ganhos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econômicos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substanciais,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resultando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eficiência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energética</a:t>
            </a:r>
            <a:r>
              <a:rPr dirty="0" sz="1400" spc="8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de </a:t>
            </a:r>
            <a:r>
              <a:rPr dirty="0" sz="1400">
                <a:latin typeface="Arial MT"/>
                <a:cs typeface="Arial MT"/>
              </a:rPr>
              <a:t>69%.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projeto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mostrou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eficiente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sustentável,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atendendo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aos</a:t>
            </a:r>
            <a:r>
              <a:rPr dirty="0" sz="1400" spc="2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objetivos</a:t>
            </a:r>
            <a:r>
              <a:rPr dirty="0" sz="1400" spc="240">
                <a:latin typeface="Arial MT"/>
                <a:cs typeface="Arial MT"/>
              </a:rPr>
              <a:t> </a:t>
            </a:r>
            <a:r>
              <a:rPr dirty="0" sz="1400" spc="-35">
                <a:latin typeface="Arial MT"/>
                <a:cs typeface="Arial MT"/>
              </a:rPr>
              <a:t>de </a:t>
            </a:r>
            <a:r>
              <a:rPr dirty="0" sz="1400">
                <a:latin typeface="Arial MT"/>
                <a:cs typeface="Arial MT"/>
              </a:rPr>
              <a:t>reduzir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variabilidade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pressão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otimizar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biomassa.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50719" y="18611693"/>
            <a:ext cx="12744450" cy="1165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5405">
              <a:lnSpc>
                <a:spcPts val="1680"/>
              </a:lnSpc>
              <a:spcBef>
                <a:spcPts val="95"/>
              </a:spcBef>
            </a:pPr>
            <a:r>
              <a:rPr dirty="0" sz="1400" spc="-10" b="1">
                <a:latin typeface="Arial"/>
                <a:cs typeface="Arial"/>
              </a:rPr>
              <a:t>REFERÊNCIAS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BIBLIOGRÁFICAS</a:t>
            </a:r>
            <a:endParaRPr sz="1400">
              <a:latin typeface="Arial"/>
              <a:cs typeface="Arial"/>
            </a:endParaRPr>
          </a:p>
          <a:p>
            <a:pPr marL="304800" marR="5080" indent="-292735">
              <a:lnSpc>
                <a:spcPts val="1680"/>
              </a:lnSpc>
              <a:spcBef>
                <a:spcPts val="55"/>
              </a:spcBef>
              <a:tabLst>
                <a:tab pos="304800" algn="l"/>
              </a:tabLst>
            </a:pPr>
            <a:r>
              <a:rPr dirty="0" sz="1400" spc="-25">
                <a:latin typeface="Arial MT"/>
                <a:cs typeface="Arial MT"/>
              </a:rPr>
              <a:t>1.</a:t>
            </a:r>
            <a:r>
              <a:rPr dirty="0" sz="1400">
                <a:latin typeface="Arial MT"/>
                <a:cs typeface="Arial MT"/>
              </a:rPr>
              <a:t>	REIS,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Haroldo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Marinho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dos;</a:t>
            </a:r>
            <a:r>
              <a:rPr dirty="0" sz="1400" spc="3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HALLA,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Danilo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Lavigne;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CARNEIRO,</a:t>
            </a:r>
            <a:r>
              <a:rPr dirty="0" sz="1400" spc="3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Sayonara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Soares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Freitas;</a:t>
            </a:r>
            <a:r>
              <a:rPr dirty="0" sz="1400" spc="3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DIAS,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Heverton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Fábio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3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Faria;</a:t>
            </a:r>
            <a:r>
              <a:rPr dirty="0" sz="1400" spc="3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MILANEZ,</a:t>
            </a:r>
            <a:r>
              <a:rPr dirty="0" sz="1400" spc="2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Augusto Fernandes.</a:t>
            </a:r>
            <a:endParaRPr sz="1400">
              <a:latin typeface="Arial MT"/>
              <a:cs typeface="Arial MT"/>
            </a:endParaRPr>
          </a:p>
          <a:p>
            <a:pPr marL="65405" marR="1570990">
              <a:lnSpc>
                <a:spcPts val="1970"/>
              </a:lnSpc>
              <a:spcBef>
                <a:spcPts val="40"/>
              </a:spcBef>
            </a:pPr>
            <a:r>
              <a:rPr dirty="0" sz="1400">
                <a:latin typeface="Arial MT"/>
                <a:cs typeface="Arial MT"/>
              </a:rPr>
              <a:t>Aumento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eficiência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matriz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energética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uma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planta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papel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celulose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usando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controle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baseado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lógica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fuzzy: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um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estudo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caso. </a:t>
            </a:r>
            <a:r>
              <a:rPr dirty="0" sz="1400">
                <a:latin typeface="Arial MT"/>
                <a:cs typeface="Arial MT"/>
              </a:rPr>
              <a:t>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Papel,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30">
                <a:latin typeface="Arial MT"/>
                <a:cs typeface="Arial MT"/>
              </a:rPr>
              <a:t>v.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77,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n.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1,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p.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67–72,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jan.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2016.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06696" y="322358"/>
            <a:ext cx="14103985" cy="15796260"/>
            <a:chOff x="406696" y="322358"/>
            <a:chExt cx="14103985" cy="15796260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1813" y="322358"/>
              <a:ext cx="3078846" cy="150858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696" y="604571"/>
              <a:ext cx="4408350" cy="9840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9625" y="7236280"/>
              <a:ext cx="3964759" cy="199046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4228" y="13817142"/>
              <a:ext cx="4741240" cy="230128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53888" y="6649088"/>
              <a:ext cx="3964758" cy="199046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20874" y="11450262"/>
              <a:ext cx="3254549" cy="784206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592755" y="1900233"/>
            <a:ext cx="13713460" cy="1572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b="1">
                <a:latin typeface="Arial"/>
                <a:cs typeface="Arial"/>
              </a:rPr>
              <a:t>Aplicação</a:t>
            </a:r>
            <a:r>
              <a:rPr dirty="0" sz="2350" spc="-30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de</a:t>
            </a:r>
            <a:r>
              <a:rPr dirty="0" sz="2350" spc="-25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controle</a:t>
            </a:r>
            <a:r>
              <a:rPr dirty="0" sz="2350" spc="-30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Fuzzy</a:t>
            </a:r>
            <a:r>
              <a:rPr dirty="0" sz="2350" spc="-25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para</a:t>
            </a:r>
            <a:r>
              <a:rPr dirty="0" sz="2350" spc="-30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otimização</a:t>
            </a:r>
            <a:r>
              <a:rPr dirty="0" sz="2350" spc="-25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da</a:t>
            </a:r>
            <a:r>
              <a:rPr dirty="0" sz="2350" spc="-30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eficiência</a:t>
            </a:r>
            <a:r>
              <a:rPr dirty="0" sz="2350" spc="-25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energética</a:t>
            </a:r>
            <a:r>
              <a:rPr dirty="0" sz="2350" spc="-30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em</a:t>
            </a:r>
            <a:r>
              <a:rPr dirty="0" sz="2350" spc="-25" b="1">
                <a:latin typeface="Arial"/>
                <a:cs typeface="Arial"/>
              </a:rPr>
              <a:t> </a:t>
            </a:r>
            <a:r>
              <a:rPr dirty="0" sz="2350" b="1">
                <a:latin typeface="Arial"/>
                <a:cs typeface="Arial"/>
              </a:rPr>
              <a:t>processos</a:t>
            </a:r>
            <a:r>
              <a:rPr dirty="0" sz="2350" spc="-25" b="1">
                <a:latin typeface="Arial"/>
                <a:cs typeface="Arial"/>
              </a:rPr>
              <a:t> </a:t>
            </a:r>
            <a:r>
              <a:rPr dirty="0" sz="2350" spc="-10" b="1">
                <a:latin typeface="Arial"/>
                <a:cs typeface="Arial"/>
              </a:rPr>
              <a:t>industriais.</a:t>
            </a:r>
            <a:endParaRPr sz="2350">
              <a:latin typeface="Arial"/>
              <a:cs typeface="Arial"/>
            </a:endParaRPr>
          </a:p>
          <a:p>
            <a:pPr marL="6080760" marR="33655" indent="-5958205">
              <a:lnSpc>
                <a:spcPct val="101800"/>
              </a:lnSpc>
              <a:spcBef>
                <a:spcPts val="1535"/>
              </a:spcBef>
            </a:pPr>
            <a:r>
              <a:rPr dirty="0" sz="1600">
                <a:latin typeface="Arial MT"/>
                <a:cs typeface="Arial MT"/>
              </a:rPr>
              <a:t>Odinelson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Leandro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Ferreira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dos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Santos</a:t>
            </a:r>
            <a:r>
              <a:rPr dirty="0" sz="1600" b="1">
                <a:latin typeface="Arial"/>
                <a:cs typeface="Arial"/>
              </a:rPr>
              <a:t>,</a:t>
            </a:r>
            <a:r>
              <a:rPr dirty="0" sz="1600" spc="45" b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Yan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Caique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Santos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Muniz,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João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Pedro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Ferreira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Guimarães,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Diego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da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Conceição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Santos,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Adailton</a:t>
            </a:r>
            <a:r>
              <a:rPr dirty="0" sz="1600" spc="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de</a:t>
            </a:r>
            <a:r>
              <a:rPr dirty="0" sz="1600" spc="9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Jesus </a:t>
            </a:r>
            <a:r>
              <a:rPr dirty="0" sz="1600">
                <a:latin typeface="Arial MT"/>
                <a:cs typeface="Arial MT"/>
              </a:rPr>
              <a:t>Cerqueira</a:t>
            </a:r>
            <a:r>
              <a:rPr dirty="0" sz="1600" spc="3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Junior.</a:t>
            </a:r>
            <a:endParaRPr sz="1600">
              <a:latin typeface="Arial MT"/>
              <a:cs typeface="Arial MT"/>
            </a:endParaRPr>
          </a:p>
          <a:p>
            <a:pPr algn="ctr" marR="68580">
              <a:lnSpc>
                <a:spcPct val="100000"/>
              </a:lnSpc>
              <a:spcBef>
                <a:spcPts val="1370"/>
              </a:spcBef>
            </a:pPr>
            <a:r>
              <a:rPr dirty="0" sz="2100">
                <a:latin typeface="Arial MT"/>
                <a:cs typeface="Arial MT"/>
              </a:rPr>
              <a:t>Universidade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Salvador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Salvador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BA</a:t>
            </a:r>
            <a:r>
              <a:rPr dirty="0" sz="2100" spc="-1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10">
                <a:latin typeface="Arial MT"/>
                <a:cs typeface="Arial MT"/>
              </a:rPr>
              <a:t> Brasil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Modelo_Banner_20251003131728 (1)</dc:title>
  <dcterms:created xsi:type="dcterms:W3CDTF">2025-11-25T16:25:25Z</dcterms:created>
  <dcterms:modified xsi:type="dcterms:W3CDTF">2025-11-25T16:25:25Z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2025-11-25T00:00:00Z</vt:filetime>
  </property>
</Properties>
</file>